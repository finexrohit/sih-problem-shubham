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jpeg" /><Relationship Id="rId4" Type="http://schemas.openxmlformats.org/officeDocument/2006/relationships/image" Target="../media/image4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share.google/ndGXDhWBzW2bRMet8" TargetMode="External" /><Relationship Id="rId5" Type="http://schemas.openxmlformats.org/officeDocument/2006/relationships/hyperlink" Target="https://share.google/iGsuVUiiTWC9szLTV" TargetMode="External" /><Relationship Id="rId4" Type="http://schemas.openxmlformats.org/officeDocument/2006/relationships/hyperlink" Target="https://share.google/yCzkdV0Cx2wKJNnO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7006" y="681314"/>
            <a:ext cx="6355863" cy="5823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i="1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SIH26209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Student Innovation-Space technology refers to the application of engineering principles to the design, development, manufacture, and operation of devices and systems for space travel and exploration.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 Space Technology </a:t>
            </a:r>
            <a:endParaRPr lang="en-US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– Stellar Nexus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D5FBA6C1-7BA4-1328-D850-44B9B4144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85210" y="0"/>
            <a:ext cx="7794875" cy="18288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Lunar Exploration Site Selection &amp; Analysis Platform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741276"/>
            <a:ext cx="453590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IN" sz="3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IN" sz="3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Stellar Nexus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C95165-87F5-069D-3F0C-4C96B935DA49}"/>
              </a:ext>
            </a:extLst>
          </p:cNvPr>
          <p:cNvSpPr txBox="1"/>
          <p:nvPr/>
        </p:nvSpPr>
        <p:spPr>
          <a:xfrm>
            <a:off x="521757" y="2434189"/>
            <a:ext cx="433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Web-based platform for identifying scientifically suitable locations on the Moon.</a:t>
            </a:r>
          </a:p>
          <a:p>
            <a:pPr algn="l"/>
            <a:r>
              <a:rPr lang="en-IN"/>
              <a:t>• Uses available lunar remote-sensing datasets.</a:t>
            </a:r>
          </a:p>
          <a:p>
            <a:pPr algn="l"/>
            <a:r>
              <a:rPr lang="en-IN"/>
              <a:t>• Detect terrain, illumination ,slope, surface characteristics</a:t>
            </a:r>
          </a:p>
          <a:p>
            <a:pPr algn="l"/>
            <a:r>
              <a:rPr lang="en-IN"/>
              <a:t>• Calculate the suitable score for candidate location </a:t>
            </a:r>
          </a:p>
          <a:p>
            <a:pPr algn="l"/>
            <a:r>
              <a:rPr lang="en-IN"/>
              <a:t>• Start ranking them and then display them in the lunar map</a:t>
            </a:r>
          </a:p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CAE0F-15E6-A3C5-F17B-C823923353BA}"/>
              </a:ext>
            </a:extLst>
          </p:cNvPr>
          <p:cNvSpPr txBox="1"/>
          <p:nvPr/>
        </p:nvSpPr>
        <p:spPr>
          <a:xfrm>
            <a:off x="4837986" y="2720767"/>
            <a:ext cx="36233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Reduces manual analysis of large lunar datasets.</a:t>
            </a:r>
          </a:p>
          <a:p>
            <a:pPr algn="l"/>
            <a:r>
              <a:rPr lang="en-IN"/>
              <a:t>• Help researchers to identify they exploration sites.</a:t>
            </a:r>
          </a:p>
          <a:p>
            <a:pPr algn="l"/>
            <a:r>
              <a:rPr lang="en-IN"/>
              <a:t>• Provide a single platform for visualization + comparison + decision making.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F4DF4-CBD5-7068-A89C-03B0DA62F54F}"/>
              </a:ext>
            </a:extLst>
          </p:cNvPr>
          <p:cNvSpPr txBox="1"/>
          <p:nvPr/>
        </p:nvSpPr>
        <p:spPr>
          <a:xfrm>
            <a:off x="4815214" y="1645962"/>
            <a:ext cx="44276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How it address the problem </a:t>
            </a:r>
            <a:endParaRPr lang="en-US" sz="3200" b="1" u="sng">
              <a:solidFill>
                <a:schemeClr val="tx2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A31DDD-F336-A2A2-ACBF-D2D5FC9B1E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582" y="4692909"/>
            <a:ext cx="2473618" cy="15209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89BEACE-1C6A-F4DA-D7A5-21442C2725F2}"/>
              </a:ext>
            </a:extLst>
          </p:cNvPr>
          <p:cNvSpPr txBox="1"/>
          <p:nvPr/>
        </p:nvSpPr>
        <p:spPr>
          <a:xfrm>
            <a:off x="8484077" y="1645962"/>
            <a:ext cx="3150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Innovations and uniqueness 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A5188-4C5A-8807-CEE8-37BC63948354}"/>
              </a:ext>
            </a:extLst>
          </p:cNvPr>
          <p:cNvSpPr txBox="1"/>
          <p:nvPr/>
        </p:nvSpPr>
        <p:spPr>
          <a:xfrm>
            <a:off x="8370025" y="2730346"/>
            <a:ext cx="2728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Multiple parameters site and suitable scoring.</a:t>
            </a:r>
          </a:p>
          <a:p>
            <a:pPr algn="l"/>
            <a:r>
              <a:rPr lang="en-IN"/>
              <a:t>• Candidate locations can be ranked instead of display.</a:t>
            </a:r>
          </a:p>
          <a:p>
            <a:pPr algn="l"/>
            <a:r>
              <a:rPr lang="en-IN"/>
              <a:t>• Interactive map can makes complex satellite data easier to understand.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Stellar Nexus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8EAFC1-3E44-C904-1472-73D77BA7CD5B}"/>
              </a:ext>
            </a:extLst>
          </p:cNvPr>
          <p:cNvSpPr txBox="1"/>
          <p:nvPr/>
        </p:nvSpPr>
        <p:spPr>
          <a:xfrm>
            <a:off x="510820" y="1359451"/>
            <a:ext cx="3146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u="sng">
                <a:solidFill>
                  <a:schemeClr val="tx2"/>
                </a:solidFill>
              </a:rPr>
              <a:t>Technology stack </a:t>
            </a:r>
            <a:endParaRPr lang="en-US" sz="2800" b="1" u="sng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51EA6-4EA4-42DB-625C-03F4B1D489C6}"/>
              </a:ext>
            </a:extLst>
          </p:cNvPr>
          <p:cNvSpPr txBox="1"/>
          <p:nvPr/>
        </p:nvSpPr>
        <p:spPr>
          <a:xfrm>
            <a:off x="414566" y="1973178"/>
            <a:ext cx="3868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Python</a:t>
            </a:r>
          </a:p>
          <a:p>
            <a:pPr algn="l"/>
            <a:r>
              <a:rPr lang="en-IN"/>
              <a:t>• HTML/CSS</a:t>
            </a:r>
          </a:p>
          <a:p>
            <a:pPr algn="l"/>
            <a:r>
              <a:rPr lang="en-IN"/>
              <a:t>• Geospatial processing</a:t>
            </a:r>
          </a:p>
          <a:p>
            <a:pPr algn="l"/>
            <a:r>
              <a:rPr lang="en-IN"/>
              <a:t>• Web interface </a:t>
            </a:r>
          </a:p>
          <a:p>
            <a:pPr algn="l"/>
            <a:r>
              <a:rPr lang="en-IN"/>
              <a:t>• Satellite datasets</a:t>
            </a:r>
          </a:p>
          <a:p>
            <a:pPr algn="l"/>
            <a:r>
              <a:rPr lang="en-IN"/>
              <a:t>•Mapping and data visualization </a:t>
            </a:r>
          </a:p>
          <a:p>
            <a:pPr algn="l"/>
            <a:r>
              <a:rPr lang="en-IN"/>
              <a:t>• Database for storing analysed locations.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0FECA-5F18-2462-7E82-4C4F2C89546F}"/>
              </a:ext>
            </a:extLst>
          </p:cNvPr>
          <p:cNvSpPr/>
          <p:nvPr/>
        </p:nvSpPr>
        <p:spPr>
          <a:xfrm>
            <a:off x="3840078" y="2422675"/>
            <a:ext cx="1447392" cy="7937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Lunar satellite data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5BFFB-2B6F-B94D-6236-A5CC489DBF56}"/>
              </a:ext>
            </a:extLst>
          </p:cNvPr>
          <p:cNvSpPr txBox="1"/>
          <p:nvPr/>
        </p:nvSpPr>
        <p:spPr>
          <a:xfrm>
            <a:off x="7131493" y="1334031"/>
            <a:ext cx="2729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u="sng"/>
              <a:t>How it works </a:t>
            </a:r>
            <a:endParaRPr lang="en-US" sz="2800" b="1" u="sn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7D626D-A698-6974-CEF8-71C681B69B6F}"/>
              </a:ext>
            </a:extLst>
          </p:cNvPr>
          <p:cNvSpPr/>
          <p:nvPr/>
        </p:nvSpPr>
        <p:spPr>
          <a:xfrm>
            <a:off x="6095999" y="2422675"/>
            <a:ext cx="1447393" cy="7937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Data preprocessing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A89B70-6909-E0A3-C076-255DF362B70D}"/>
              </a:ext>
            </a:extLst>
          </p:cNvPr>
          <p:cNvSpPr/>
          <p:nvPr/>
        </p:nvSpPr>
        <p:spPr>
          <a:xfrm>
            <a:off x="8425707" y="2398787"/>
            <a:ext cx="1447393" cy="7937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Terrain/surface parameter extraction 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0FA03E-E9E3-6494-41C4-2207C18F0EB3}"/>
              </a:ext>
            </a:extLst>
          </p:cNvPr>
          <p:cNvSpPr/>
          <p:nvPr/>
        </p:nvSpPr>
        <p:spPr>
          <a:xfrm>
            <a:off x="10681629" y="2385368"/>
            <a:ext cx="1447393" cy="83104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Suitability Analysis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E791BB-36EE-7951-CFA6-9900771A3C3A}"/>
              </a:ext>
            </a:extLst>
          </p:cNvPr>
          <p:cNvSpPr/>
          <p:nvPr/>
        </p:nvSpPr>
        <p:spPr>
          <a:xfrm>
            <a:off x="9873100" y="4269522"/>
            <a:ext cx="2002068" cy="7937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Scoring and Ranking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9A17C5-6595-BB02-2743-0DF8E097FC3A}"/>
              </a:ext>
            </a:extLst>
          </p:cNvPr>
          <p:cNvSpPr/>
          <p:nvPr/>
        </p:nvSpPr>
        <p:spPr>
          <a:xfrm>
            <a:off x="6907727" y="4299482"/>
            <a:ext cx="2002068" cy="82953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Interactive lunar map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B7F503-BE80-3908-E423-03DB49645DDF}"/>
              </a:ext>
            </a:extLst>
          </p:cNvPr>
          <p:cNvSpPr/>
          <p:nvPr/>
        </p:nvSpPr>
        <p:spPr>
          <a:xfrm>
            <a:off x="4106001" y="4316234"/>
            <a:ext cx="1828800" cy="82953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Suggest best exploration sites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CABC954-7F53-4057-8E24-369C171AB4AA}"/>
              </a:ext>
            </a:extLst>
          </p:cNvPr>
          <p:cNvSpPr/>
          <p:nvPr/>
        </p:nvSpPr>
        <p:spPr>
          <a:xfrm>
            <a:off x="5477580" y="2491025"/>
            <a:ext cx="502094" cy="7134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223C3CB-1A90-ECED-8657-1F76842ED541}"/>
              </a:ext>
            </a:extLst>
          </p:cNvPr>
          <p:cNvSpPr/>
          <p:nvPr/>
        </p:nvSpPr>
        <p:spPr>
          <a:xfrm>
            <a:off x="7770396" y="2479091"/>
            <a:ext cx="502094" cy="7134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05C39907-A480-E07F-67B2-DDABE0CD38C8}"/>
              </a:ext>
            </a:extLst>
          </p:cNvPr>
          <p:cNvSpPr/>
          <p:nvPr/>
        </p:nvSpPr>
        <p:spPr>
          <a:xfrm>
            <a:off x="10081239" y="2438938"/>
            <a:ext cx="502094" cy="7134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BBE0255A-4690-6C0C-80CF-C08B17158AC6}"/>
              </a:ext>
            </a:extLst>
          </p:cNvPr>
          <p:cNvSpPr/>
          <p:nvPr/>
        </p:nvSpPr>
        <p:spPr>
          <a:xfrm>
            <a:off x="11104386" y="3429000"/>
            <a:ext cx="601878" cy="724546"/>
          </a:xfrm>
          <a:prstGeom prst="downArrow">
            <a:avLst>
              <a:gd name="adj1" fmla="val 50000"/>
              <a:gd name="adj2" fmla="val 5305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A49A18D7-713D-6165-2A1E-8640C844676E}"/>
              </a:ext>
            </a:extLst>
          </p:cNvPr>
          <p:cNvSpPr/>
          <p:nvPr/>
        </p:nvSpPr>
        <p:spPr>
          <a:xfrm>
            <a:off x="9090508" y="4393459"/>
            <a:ext cx="601879" cy="605615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AB4C42A2-65A7-404E-1789-8AD8D5FDD806}"/>
              </a:ext>
            </a:extLst>
          </p:cNvPr>
          <p:cNvSpPr/>
          <p:nvPr/>
        </p:nvSpPr>
        <p:spPr>
          <a:xfrm>
            <a:off x="6095999" y="4411440"/>
            <a:ext cx="601879" cy="605615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42C0E7B-B7E7-E78B-557A-1DAFBE296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59" y="4316234"/>
            <a:ext cx="3068320" cy="19127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A9DD453-2221-2E9E-265E-15F1400E0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383" y="1973178"/>
            <a:ext cx="1546876" cy="4202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7EF974A-92F0-CE0B-DC3E-B8E74E2510B2}"/>
              </a:ext>
            </a:extLst>
          </p:cNvPr>
          <p:cNvCxnSpPr>
            <a:cxnSpLocks/>
          </p:cNvCxnSpPr>
          <p:nvPr/>
        </p:nvCxnSpPr>
        <p:spPr>
          <a:xfrm flipH="1">
            <a:off x="3674236" y="1262307"/>
            <a:ext cx="1995" cy="297142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8EF1C0A-5E8D-4658-B284-C66ED7A3A8A5}"/>
              </a:ext>
            </a:extLst>
          </p:cNvPr>
          <p:cNvCxnSpPr>
            <a:cxnSpLocks/>
          </p:cNvCxnSpPr>
          <p:nvPr/>
        </p:nvCxnSpPr>
        <p:spPr>
          <a:xfrm>
            <a:off x="188288" y="4270345"/>
            <a:ext cx="3485948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Stellar Nexus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E2D834-2F11-2FC4-1E2D-B5EDD0434411}"/>
              </a:ext>
            </a:extLst>
          </p:cNvPr>
          <p:cNvSpPr txBox="1"/>
          <p:nvPr/>
        </p:nvSpPr>
        <p:spPr>
          <a:xfrm>
            <a:off x="487278" y="1395246"/>
            <a:ext cx="24003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Feasibility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472FBD-D0AD-753B-D303-63318F5FE836}"/>
              </a:ext>
            </a:extLst>
          </p:cNvPr>
          <p:cNvSpPr txBox="1"/>
          <p:nvPr/>
        </p:nvSpPr>
        <p:spPr>
          <a:xfrm>
            <a:off x="293104" y="2067663"/>
            <a:ext cx="3147353" cy="2110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Uses existing lunar remote sensing data.</a:t>
            </a:r>
          </a:p>
          <a:p>
            <a:pPr algn="l"/>
            <a:r>
              <a:rPr lang="en-IN"/>
              <a:t>• Can start with the limited region and scale later.</a:t>
            </a:r>
          </a:p>
          <a:p>
            <a:pPr algn="l"/>
            <a:r>
              <a:rPr lang="en-IN"/>
              <a:t>• Modular design allows additional datasets to be added.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E7D5A-6B9F-1C8B-AE62-18D608CF2E27}"/>
              </a:ext>
            </a:extLst>
          </p:cNvPr>
          <p:cNvSpPr txBox="1"/>
          <p:nvPr/>
        </p:nvSpPr>
        <p:spPr>
          <a:xfrm>
            <a:off x="4397541" y="1395246"/>
            <a:ext cx="267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Challenges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CC5CD-3B31-6C74-E266-57F68AEFCCCA}"/>
              </a:ext>
            </a:extLst>
          </p:cNvPr>
          <p:cNvSpPr txBox="1"/>
          <p:nvPr/>
        </p:nvSpPr>
        <p:spPr>
          <a:xfrm>
            <a:off x="3891121" y="2067663"/>
            <a:ext cx="29953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Large volume Satellite datasets</a:t>
            </a:r>
          </a:p>
          <a:p>
            <a:pPr algn="l"/>
            <a:r>
              <a:rPr lang="en-IN"/>
              <a:t>• Thermal extreme </a:t>
            </a:r>
          </a:p>
          <a:p>
            <a:pPr algn="l"/>
            <a:r>
              <a:rPr lang="en-IN"/>
              <a:t>• Communication blackouts -  missing or inconsistent data</a:t>
            </a:r>
          </a:p>
          <a:p>
            <a:pPr algn="l"/>
            <a:r>
              <a:rPr lang="en-IN"/>
              <a:t>• Computational requirement</a:t>
            </a:r>
          </a:p>
          <a:p>
            <a:pPr algn="l"/>
            <a:r>
              <a:rPr lang="en-IN"/>
              <a:t>• Abrasive Lunar dust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4B1CA-8D24-4394-4025-21F256F71C0F}"/>
              </a:ext>
            </a:extLst>
          </p:cNvPr>
          <p:cNvSpPr txBox="1"/>
          <p:nvPr/>
        </p:nvSpPr>
        <p:spPr>
          <a:xfrm>
            <a:off x="8127330" y="1395246"/>
            <a:ext cx="3013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Our main Focus 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86C9B-B99D-C7B1-A89B-47AD239DD955}"/>
              </a:ext>
            </a:extLst>
          </p:cNvPr>
          <p:cNvSpPr txBox="1"/>
          <p:nvPr/>
        </p:nvSpPr>
        <p:spPr>
          <a:xfrm>
            <a:off x="7943668" y="1980021"/>
            <a:ext cx="29953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</a:t>
            </a:r>
            <a:r>
              <a:rPr lang="en-US"/>
              <a:t>Data preprocessing and standardisation</a:t>
            </a:r>
            <a:endParaRPr lang="en-IN"/>
          </a:p>
          <a:p>
            <a:pPr algn="l"/>
            <a:r>
              <a:rPr lang="en-IN"/>
              <a:t>•</a:t>
            </a:r>
            <a:r>
              <a:rPr lang="en-US"/>
              <a:t>Region-wise processing</a:t>
            </a:r>
            <a:endParaRPr lang="en-IN"/>
          </a:p>
          <a:p>
            <a:pPr algn="l"/>
            <a:r>
              <a:rPr lang="en-IN"/>
              <a:t>•</a:t>
            </a:r>
            <a:r>
              <a:rPr lang="en-US"/>
              <a:t>Modular architecture</a:t>
            </a:r>
            <a:endParaRPr lang="en-IN"/>
          </a:p>
          <a:p>
            <a:pPr algn="l"/>
            <a:r>
              <a:rPr lang="en-IN"/>
              <a:t>•</a:t>
            </a:r>
            <a:r>
              <a:rPr lang="en-US"/>
              <a:t>Weighted scoring system</a:t>
            </a:r>
            <a:endParaRPr lang="en-IN"/>
          </a:p>
          <a:p>
            <a:pPr algn="l"/>
            <a:r>
              <a:rPr lang="en-IN"/>
              <a:t>•</a:t>
            </a:r>
            <a:r>
              <a:rPr lang="en-US"/>
              <a:t>Progressive improvement with additional datasets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8AC6E0-4EB3-CA3B-E98B-08136D58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503" y="4419680"/>
            <a:ext cx="3344142" cy="1783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1E918-C7CD-CDAF-313A-9EDCA9B6A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183" y="4404664"/>
            <a:ext cx="2460034" cy="18135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Stellar Nexus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73A90E-8B4E-9164-6590-32443CA8E1DA}"/>
              </a:ext>
            </a:extLst>
          </p:cNvPr>
          <p:cNvSpPr txBox="1"/>
          <p:nvPr/>
        </p:nvSpPr>
        <p:spPr>
          <a:xfrm>
            <a:off x="817941" y="165424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Impact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F0140D-A646-6EBC-D44A-8D38F88C7C1D}"/>
              </a:ext>
            </a:extLst>
          </p:cNvPr>
          <p:cNvSpPr txBox="1"/>
          <p:nvPr/>
        </p:nvSpPr>
        <p:spPr>
          <a:xfrm>
            <a:off x="387495" y="2147861"/>
            <a:ext cx="8350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Educational platforms for students and geospace enthusiasts </a:t>
            </a:r>
          </a:p>
          <a:p>
            <a:pPr algn="l"/>
            <a:r>
              <a:rPr lang="en-IN"/>
              <a:t>• Better visualization for lunar terrain </a:t>
            </a:r>
          </a:p>
          <a:p>
            <a:pPr algn="l"/>
            <a:r>
              <a:rPr lang="en-IN"/>
              <a:t>• Potential support for future landing, rover and scientific exploration planning 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55096-CDF7-CDA4-B4C8-DBA9A2E23A1A}"/>
              </a:ext>
            </a:extLst>
          </p:cNvPr>
          <p:cNvSpPr txBox="1"/>
          <p:nvPr/>
        </p:nvSpPr>
        <p:spPr>
          <a:xfrm>
            <a:off x="800099" y="3177303"/>
            <a:ext cx="2701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u="sng">
                <a:solidFill>
                  <a:schemeClr val="tx2">
                    <a:lumMod val="50000"/>
                  </a:schemeClr>
                </a:solidFill>
              </a:rPr>
              <a:t>TARGET USER’S </a:t>
            </a:r>
            <a:endParaRPr lang="en-US" sz="2400" b="1" u="sng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05ACB-6389-3A25-4657-CF759E374213}"/>
              </a:ext>
            </a:extLst>
          </p:cNvPr>
          <p:cNvSpPr txBox="1"/>
          <p:nvPr/>
        </p:nvSpPr>
        <p:spPr>
          <a:xfrm>
            <a:off x="817941" y="3554717"/>
            <a:ext cx="1810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 Space researchers</a:t>
            </a:r>
          </a:p>
          <a:p>
            <a:pPr algn="l"/>
            <a:r>
              <a:rPr lang="en-IN"/>
              <a:t>• Planetary scientists</a:t>
            </a:r>
          </a:p>
          <a:p>
            <a:pPr algn="l"/>
            <a:r>
              <a:rPr lang="en-IN"/>
              <a:t>• Space agencies</a:t>
            </a:r>
          </a:p>
          <a:p>
            <a:pPr algn="l"/>
            <a:r>
              <a:rPr lang="en-IN"/>
              <a:t>• Future lunar mission planners</a:t>
            </a:r>
          </a:p>
          <a:p>
            <a:pPr algn="l"/>
            <a:r>
              <a:rPr lang="en-IN"/>
              <a:t>• Students or research institutions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E3D09-5ECE-4F36-DD84-146E1AD771F3}"/>
              </a:ext>
            </a:extLst>
          </p:cNvPr>
          <p:cNvSpPr txBox="1"/>
          <p:nvPr/>
        </p:nvSpPr>
        <p:spPr>
          <a:xfrm>
            <a:off x="5243762" y="4062970"/>
            <a:ext cx="6338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•🛰️ Better utilisation of lunar satellite data
•🌙 Faster identification of promising exploration locations
•🔬 Supports scientific research
•📊 Makes complex data easier to interpret
•🚀 Can support future lunar exploration planning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A773C1-3CE7-5C05-53C1-30A742891260}"/>
              </a:ext>
            </a:extLst>
          </p:cNvPr>
          <p:cNvSpPr txBox="1"/>
          <p:nvPr/>
        </p:nvSpPr>
        <p:spPr>
          <a:xfrm>
            <a:off x="5793205" y="3274693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Benefits </a:t>
            </a:r>
            <a:endParaRPr lang="en-US" sz="3200" b="1" u="sng">
              <a:solidFill>
                <a:schemeClr val="tx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5E4AC01-4BBD-763E-AA2A-A393A998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354" y="1160948"/>
            <a:ext cx="2709334" cy="27093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5B42DB-0DE9-C948-9DA1-895BF8A659E1}"/>
              </a:ext>
            </a:extLst>
          </p:cNvPr>
          <p:cNvSpPr/>
          <p:nvPr/>
        </p:nvSpPr>
        <p:spPr>
          <a:xfrm>
            <a:off x="4108782" y="5743800"/>
            <a:ext cx="7369344" cy="474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FROM RAW LUNAR DATA → UNDERSTANDABLE EXPLORATION DECISION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5998E-82D3-13F4-35FB-5E0B036165B9}"/>
              </a:ext>
            </a:extLst>
          </p:cNvPr>
          <p:cNvSpPr txBox="1"/>
          <p:nvPr/>
        </p:nvSpPr>
        <p:spPr>
          <a:xfrm>
            <a:off x="1152023" y="1099081"/>
            <a:ext cx="7823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Our solution has various useful and beneficiary primary impact on users and various secondary impacts on society 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Stellar Nexus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F1CD82-6C33-B4C4-92C0-28535A323023}"/>
              </a:ext>
            </a:extLst>
          </p:cNvPr>
          <p:cNvSpPr txBox="1"/>
          <p:nvPr/>
        </p:nvSpPr>
        <p:spPr>
          <a:xfrm>
            <a:off x="609600" y="1898484"/>
            <a:ext cx="4551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3200" b="1" u="sng">
                <a:solidFill>
                  <a:schemeClr val="tx2"/>
                </a:solidFill>
              </a:rPr>
              <a:t>Details of Research work </a:t>
            </a:r>
            <a:endParaRPr lang="en-US" sz="3200" b="1" u="sng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61165-A8A1-C3C5-720F-77D5DE4FBA5C}"/>
              </a:ext>
            </a:extLst>
          </p:cNvPr>
          <p:cNvSpPr txBox="1"/>
          <p:nvPr/>
        </p:nvSpPr>
        <p:spPr>
          <a:xfrm>
            <a:off x="955701" y="2483259"/>
            <a:ext cx="9918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A detailed research work was done on various aspects of application to make it more efficient and, fast. Many government website were scotched by us to understand there implementation and tactics.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D6336-17B6-C57F-0594-DE262BFC88CC}"/>
              </a:ext>
            </a:extLst>
          </p:cNvPr>
          <p:cNvSpPr txBox="1"/>
          <p:nvPr/>
        </p:nvSpPr>
        <p:spPr>
          <a:xfrm>
            <a:off x="955701" y="3171070"/>
            <a:ext cx="9918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/>
              <a:t>Data and images were taken from different links , which are attached below :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D6252-0808-026A-89C0-5A02E4503172}"/>
              </a:ext>
            </a:extLst>
          </p:cNvPr>
          <p:cNvSpPr txBox="1"/>
          <p:nvPr/>
        </p:nvSpPr>
        <p:spPr>
          <a:xfrm>
            <a:off x="955701" y="3659606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u="sng"/>
              <a:t>Links:</a:t>
            </a:r>
            <a:endParaRPr lang="en-US" sz="2400" b="1" u="s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88EF5-E415-BBD1-4EA4-C98EB887D526}"/>
              </a:ext>
            </a:extLst>
          </p:cNvPr>
          <p:cNvSpPr txBox="1"/>
          <p:nvPr/>
        </p:nvSpPr>
        <p:spPr>
          <a:xfrm>
            <a:off x="1056773" y="4284752"/>
            <a:ext cx="99180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>
                <a:hlinkClick r:id="rId4"/>
              </a:rPr>
              <a:t>https://share.google/yCzkdV0Cx2wKJNnOF</a:t>
            </a:r>
            <a:r>
              <a:rPr lang="en-IN"/>
              <a:t> ( Lunar Data ) </a:t>
            </a:r>
          </a:p>
          <a:p>
            <a:pPr algn="l"/>
            <a:r>
              <a:rPr lang="en-IN">
                <a:hlinkClick r:id="rId5"/>
              </a:rPr>
              <a:t>https://share.google/iGsuVUiiTWC9szLTV</a:t>
            </a:r>
            <a:r>
              <a:rPr lang="en-IN"/>
              <a:t> ( Lunar mapping and images )</a:t>
            </a:r>
          </a:p>
          <a:p>
            <a:pPr algn="l"/>
            <a:r>
              <a:rPr lang="en-IN">
                <a:hlinkClick r:id="rId6"/>
              </a:rPr>
              <a:t>https://share.google/ndGXDhWBzW2bRMet8</a:t>
            </a:r>
            <a:r>
              <a:rPr lang="en-IN"/>
              <a:t> ( Selecting and understanding the parameters)</a:t>
            </a:r>
          </a:p>
          <a:p>
            <a:pPr algn="l"/>
            <a:r>
              <a:rPr lang="en-IN"/>
              <a:t>Chartgpt- used for brainstorming, conceptual explanations and organizing research; not treated as a primary scientific source.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Lunar Exploration Site Selection &amp; Analysis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Srirupa Atithi Majhi</cp:lastModifiedBy>
  <cp:revision>149</cp:revision>
  <dcterms:created xsi:type="dcterms:W3CDTF">2013-12-12T18:46:50Z</dcterms:created>
  <dcterms:modified xsi:type="dcterms:W3CDTF">2026-09-09T17:47:18Z</dcterms:modified>
  <cp:category/>
</cp:coreProperties>
</file>